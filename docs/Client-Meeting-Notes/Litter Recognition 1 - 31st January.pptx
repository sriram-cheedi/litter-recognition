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B9E214-DFC1-4C27-AF4B-7946BBB0D6F0}">
  <a:tblStyle styleId="{CFB9E214-DFC1-4C27-AF4B-7946BBB0D6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5.xml"/><Relationship Id="rId22" Type="http://schemas.openxmlformats.org/officeDocument/2006/relationships/font" Target="fonts/Lato-boldItalic.fntdata"/><Relationship Id="rId10" Type="http://schemas.openxmlformats.org/officeDocument/2006/relationships/slide" Target="slides/slide4.xml"/><Relationship Id="rId21"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aleway-regular.fntdata"/><Relationship Id="rId14" Type="http://schemas.openxmlformats.org/officeDocument/2006/relationships/slide" Target="slides/slide8.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slideMaster" Target="slideMasters/slideMaster1.xml"/><Relationship Id="rId19" Type="http://schemas.openxmlformats.org/officeDocument/2006/relationships/font" Target="fonts/Lato-regular.fntdata"/><Relationship Id="rId6" Type="http://schemas.openxmlformats.org/officeDocument/2006/relationships/notesMaster" Target="notesMasters/notesMaster1.xml"/><Relationship Id="rId18" Type="http://schemas.openxmlformats.org/officeDocument/2006/relationships/font" Target="fonts/Raleway-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b12edca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2b12edca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48af5ba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48af5ba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48af5bae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d48af5bae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d48af5bae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d48af5bae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29fb3f88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29fb3f88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48af5ba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48af5ba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b4f07ff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2b4f07ff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Litter Recognition 1 - Bi-weekly Progress 31st January</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Presented by Jude, Ryan, Jack, Hanzhong, and Sriram.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Top-Down Project Structure</a:t>
            </a:r>
            <a:endParaRPr/>
          </a:p>
        </p:txBody>
      </p:sp>
      <p:sp>
        <p:nvSpPr>
          <p:cNvPr id="93" name="Google Shape;93;p14"/>
          <p:cNvSpPr txBox="1"/>
          <p:nvPr>
            <p:ph idx="1" type="body"/>
          </p:nvPr>
        </p:nvSpPr>
        <p:spPr>
          <a:xfrm>
            <a:off x="727650" y="185385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From a top-down view, the goal of our project has been to create an autonomous system, using an arduino robot arm, that can pick up and identify different types of litter. This slide showcases the remaining ‘Epics’ of our project and our definition of done for each. </a:t>
            </a:r>
            <a:endParaRPr/>
          </a:p>
        </p:txBody>
      </p:sp>
      <p:graphicFrame>
        <p:nvGraphicFramePr>
          <p:cNvPr id="94" name="Google Shape;94;p14"/>
          <p:cNvGraphicFramePr/>
          <p:nvPr/>
        </p:nvGraphicFramePr>
        <p:xfrm>
          <a:off x="952500" y="2723025"/>
          <a:ext cx="3000000" cy="3000000"/>
        </p:xfrm>
        <a:graphic>
          <a:graphicData uri="http://schemas.openxmlformats.org/drawingml/2006/table">
            <a:tbl>
              <a:tblPr>
                <a:noFill/>
                <a:tableStyleId>{CFB9E214-DFC1-4C27-AF4B-7946BBB0D6F0}</a:tableStyleId>
              </a:tblPr>
              <a:tblGrid>
                <a:gridCol w="3619500"/>
                <a:gridCol w="3619500"/>
              </a:tblGrid>
              <a:tr h="455725">
                <a:tc>
                  <a:txBody>
                    <a:bodyPr/>
                    <a:lstStyle/>
                    <a:p>
                      <a:pPr indent="0" lvl="0" marL="0" rtl="0" algn="l">
                        <a:spcBef>
                          <a:spcPts val="0"/>
                        </a:spcBef>
                        <a:spcAft>
                          <a:spcPts val="0"/>
                        </a:spcAft>
                        <a:buNone/>
                      </a:pPr>
                      <a:r>
                        <a:rPr b="1" lang="en"/>
                        <a:t>Remaining Epic</a:t>
                      </a:r>
                      <a:endParaRPr b="1"/>
                    </a:p>
                  </a:txBody>
                  <a:tcPr marT="91425" marB="91425" marR="91425" marL="91425"/>
                </a:tc>
                <a:tc>
                  <a:txBody>
                    <a:bodyPr/>
                    <a:lstStyle/>
                    <a:p>
                      <a:pPr indent="0" lvl="0" marL="0" rtl="0" algn="l">
                        <a:spcBef>
                          <a:spcPts val="0"/>
                        </a:spcBef>
                        <a:spcAft>
                          <a:spcPts val="0"/>
                        </a:spcAft>
                        <a:buNone/>
                      </a:pPr>
                      <a:r>
                        <a:rPr b="1" lang="en"/>
                        <a:t>Definition of Done</a:t>
                      </a:r>
                      <a:endParaRPr b="1"/>
                    </a:p>
                  </a:txBody>
                  <a:tcPr marT="91425" marB="91425" marR="91425" marL="91425"/>
                </a:tc>
              </a:tr>
              <a:tr h="455725">
                <a:tc>
                  <a:txBody>
                    <a:bodyPr/>
                    <a:lstStyle/>
                    <a:p>
                      <a:pPr indent="0" lvl="0" marL="0" rtl="0" algn="l">
                        <a:spcBef>
                          <a:spcPts val="0"/>
                        </a:spcBef>
                        <a:spcAft>
                          <a:spcPts val="0"/>
                        </a:spcAft>
                        <a:buNone/>
                      </a:pPr>
                      <a:r>
                        <a:rPr lang="en"/>
                        <a:t>Implement Inference Code</a:t>
                      </a:r>
                      <a:endParaRPr/>
                    </a:p>
                  </a:txBody>
                  <a:tcPr marT="91425" marB="91425" marR="91425" marL="91425"/>
                </a:tc>
                <a:tc>
                  <a:txBody>
                    <a:bodyPr/>
                    <a:lstStyle/>
                    <a:p>
                      <a:pPr indent="0" lvl="0" marL="0" rtl="0" algn="l">
                        <a:spcBef>
                          <a:spcPts val="0"/>
                        </a:spcBef>
                        <a:spcAft>
                          <a:spcPts val="0"/>
                        </a:spcAft>
                        <a:buNone/>
                      </a:pPr>
                      <a:r>
                        <a:rPr lang="en" sz="1000"/>
                        <a:t>Real time object detection running on the pi cameras using our model.</a:t>
                      </a:r>
                      <a:endParaRPr sz="1000"/>
                    </a:p>
                  </a:txBody>
                  <a:tcPr marT="91425" marB="91425" marR="91425" marL="91425"/>
                </a:tc>
              </a:tr>
              <a:tr h="438225">
                <a:tc>
                  <a:txBody>
                    <a:bodyPr/>
                    <a:lstStyle/>
                    <a:p>
                      <a:pPr indent="0" lvl="0" marL="0" rtl="0" algn="l">
                        <a:spcBef>
                          <a:spcPts val="0"/>
                        </a:spcBef>
                        <a:spcAft>
                          <a:spcPts val="0"/>
                        </a:spcAft>
                        <a:buNone/>
                      </a:pPr>
                      <a:r>
                        <a:rPr lang="en"/>
                        <a:t>Camera feed sent back to Raspberry Pi</a:t>
                      </a:r>
                      <a:endParaRPr/>
                    </a:p>
                  </a:txBody>
                  <a:tcPr marT="91425" marB="91425" marR="91425" marL="91425"/>
                </a:tc>
                <a:tc>
                  <a:txBody>
                    <a:bodyPr/>
                    <a:lstStyle/>
                    <a:p>
                      <a:pPr indent="0" lvl="0" marL="0" rtl="0" algn="l">
                        <a:spcBef>
                          <a:spcPts val="0"/>
                        </a:spcBef>
                        <a:spcAft>
                          <a:spcPts val="0"/>
                        </a:spcAft>
                        <a:buNone/>
                      </a:pPr>
                      <a:r>
                        <a:rPr lang="en" sz="1000"/>
                        <a:t>Multi camera module working and sending back two </a:t>
                      </a:r>
                      <a:r>
                        <a:rPr lang="en" sz="1000"/>
                        <a:t>camera</a:t>
                      </a:r>
                      <a:r>
                        <a:rPr lang="en" sz="1000"/>
                        <a:t> feeds to the Pi.</a:t>
                      </a:r>
                      <a:endParaRPr sz="1000"/>
                    </a:p>
                  </a:txBody>
                  <a:tcPr marT="91425" marB="91425" marR="91425" marL="91425"/>
                </a:tc>
              </a:tr>
              <a:tr h="455725">
                <a:tc>
                  <a:txBody>
                    <a:bodyPr/>
                    <a:lstStyle/>
                    <a:p>
                      <a:pPr indent="0" lvl="0" marL="0" rtl="0" algn="l">
                        <a:spcBef>
                          <a:spcPts val="0"/>
                        </a:spcBef>
                        <a:spcAft>
                          <a:spcPts val="0"/>
                        </a:spcAft>
                        <a:buNone/>
                      </a:pPr>
                      <a:r>
                        <a:rPr lang="en"/>
                        <a:t>Distance Calculation</a:t>
                      </a:r>
                      <a:endParaRPr/>
                    </a:p>
                  </a:txBody>
                  <a:tcPr marT="91425" marB="91425" marR="91425" marL="91425"/>
                </a:tc>
                <a:tc>
                  <a:txBody>
                    <a:bodyPr/>
                    <a:lstStyle/>
                    <a:p>
                      <a:pPr indent="0" lvl="0" marL="0" rtl="0" algn="l">
                        <a:spcBef>
                          <a:spcPts val="0"/>
                        </a:spcBef>
                        <a:spcAft>
                          <a:spcPts val="0"/>
                        </a:spcAft>
                        <a:buNone/>
                      </a:pPr>
                      <a:r>
                        <a:rPr lang="en" sz="1000"/>
                        <a:t>Distance between the arm and litter correctly calculated.</a:t>
                      </a:r>
                      <a:endParaRPr sz="1000"/>
                    </a:p>
                  </a:txBody>
                  <a:tcPr marT="91425" marB="91425" marR="91425" marL="91425"/>
                </a:tc>
              </a:tr>
              <a:tr h="455725">
                <a:tc>
                  <a:txBody>
                    <a:bodyPr/>
                    <a:lstStyle/>
                    <a:p>
                      <a:pPr indent="0" lvl="0" marL="0" rtl="0" algn="l">
                        <a:spcBef>
                          <a:spcPts val="0"/>
                        </a:spcBef>
                        <a:spcAft>
                          <a:spcPts val="0"/>
                        </a:spcAft>
                        <a:buNone/>
                      </a:pPr>
                      <a:r>
                        <a:rPr lang="en"/>
                        <a:t>Code to pick up litter</a:t>
                      </a:r>
                      <a:endParaRPr/>
                    </a:p>
                  </a:txBody>
                  <a:tcPr marT="91425" marB="91425" marR="91425" marL="91425"/>
                </a:tc>
                <a:tc>
                  <a:txBody>
                    <a:bodyPr/>
                    <a:lstStyle/>
                    <a:p>
                      <a:pPr indent="0" lvl="0" marL="0" rtl="0" algn="l">
                        <a:spcBef>
                          <a:spcPts val="0"/>
                        </a:spcBef>
                        <a:spcAft>
                          <a:spcPts val="0"/>
                        </a:spcAft>
                        <a:buNone/>
                      </a:pPr>
                      <a:r>
                        <a:rPr lang="en" sz="1000"/>
                        <a:t>Arm picking up detected litter from an unspecified orientation.</a:t>
                      </a:r>
                      <a:endParaRPr sz="1000"/>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Ryan</a:t>
            </a:r>
            <a:r>
              <a:rPr lang="en"/>
              <a:t> - Client Liaison</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Wrote inference code for real time detection with our model.</a:t>
            </a:r>
            <a:endParaRPr/>
          </a:p>
          <a:p>
            <a:pPr indent="-311150" lvl="0" marL="457200" rtl="0" algn="l">
              <a:spcBef>
                <a:spcPts val="0"/>
              </a:spcBef>
              <a:spcAft>
                <a:spcPts val="0"/>
              </a:spcAft>
              <a:buSzPts val="1300"/>
              <a:buChar char="●"/>
            </a:pPr>
            <a:r>
              <a:rPr lang="en"/>
              <a:t>Created the </a:t>
            </a:r>
            <a:r>
              <a:rPr lang="en"/>
              <a:t>participant</a:t>
            </a:r>
            <a:r>
              <a:rPr lang="en"/>
              <a:t> information sheet for testing day.</a:t>
            </a:r>
            <a:endParaRPr/>
          </a:p>
          <a:p>
            <a:pPr indent="-311150" lvl="0" marL="457200" rtl="0" algn="l">
              <a:spcBef>
                <a:spcPts val="0"/>
              </a:spcBef>
              <a:spcAft>
                <a:spcPts val="0"/>
              </a:spcAft>
              <a:buSzPts val="1300"/>
              <a:buChar char="●"/>
            </a:pPr>
            <a:r>
              <a:rPr lang="en"/>
              <a:t>Created the consent form for testing day.</a:t>
            </a:r>
            <a:endParaRPr/>
          </a:p>
          <a:p>
            <a:pPr indent="-311150" lvl="0" marL="457200" rtl="0" algn="l">
              <a:spcBef>
                <a:spcPts val="0"/>
              </a:spcBef>
              <a:spcAft>
                <a:spcPts val="0"/>
              </a:spcAft>
              <a:buSzPts val="1300"/>
              <a:buChar char="●"/>
            </a:pPr>
            <a:r>
              <a:rPr lang="en"/>
              <a:t>Made an attempt to create a Continuous Deployment action for our GitHub.</a:t>
            </a:r>
            <a:endParaRPr/>
          </a:p>
          <a:p>
            <a:pPr indent="-311150" lvl="0" marL="457200" rtl="0" algn="l">
              <a:spcBef>
                <a:spcPts val="0"/>
              </a:spcBef>
              <a:spcAft>
                <a:spcPts val="0"/>
              </a:spcAft>
              <a:buSzPts val="1300"/>
              <a:buChar char="●"/>
            </a:pPr>
            <a:r>
              <a:rPr lang="en"/>
              <a:t>Struggled a bit more with our camera adapter.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Jack</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Wrote the qu</a:t>
            </a:r>
            <a:r>
              <a:rPr lang="en"/>
              <a:t>estionnaire for testing day</a:t>
            </a:r>
            <a:endParaRPr/>
          </a:p>
          <a:p>
            <a:pPr indent="-311150" lvl="0" marL="457200" rtl="0" algn="l">
              <a:spcBef>
                <a:spcPts val="0"/>
              </a:spcBef>
              <a:spcAft>
                <a:spcPts val="0"/>
              </a:spcAft>
              <a:buSzPts val="1300"/>
              <a:buChar char="●"/>
            </a:pPr>
            <a:r>
              <a:rPr lang="en"/>
              <a:t>Tried to help get the raspberry pi set up again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Sriram</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Working on arm safety code.</a:t>
            </a:r>
            <a:endParaRPr/>
          </a:p>
          <a:p>
            <a:pPr indent="-311150" lvl="0" marL="457200" rtl="0" algn="l">
              <a:spcBef>
                <a:spcPts val="0"/>
              </a:spcBef>
              <a:spcAft>
                <a:spcPts val="0"/>
              </a:spcAft>
              <a:buSzPts val="1300"/>
              <a:buChar char="●"/>
            </a:pPr>
            <a:r>
              <a:rPr lang="en"/>
              <a:t>Worked on robot control with Jude and Hanzhong.</a:t>
            </a:r>
            <a:endParaRPr/>
          </a:p>
          <a:p>
            <a:pPr indent="-311150" lvl="0" marL="457200" rtl="0" algn="l">
              <a:spcBef>
                <a:spcPts val="0"/>
              </a:spcBef>
              <a:spcAft>
                <a:spcPts val="0"/>
              </a:spcAft>
              <a:buSzPts val="1300"/>
              <a:buChar char="●"/>
            </a:pPr>
            <a:r>
              <a:rPr lang="en"/>
              <a:t>Added more tests cases for the braccio arm.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Hanzhong	</a:t>
            </a:r>
            <a:endParaRPr/>
          </a:p>
        </p:txBody>
      </p:sp>
      <p:sp>
        <p:nvSpPr>
          <p:cNvPr id="118" name="Google Shape;118;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Work with Jude on degrees calculator</a:t>
            </a:r>
            <a:endParaRPr/>
          </a:p>
          <a:p>
            <a:pPr indent="-311150" lvl="0" marL="457200" rtl="0" algn="l">
              <a:spcBef>
                <a:spcPts val="0"/>
              </a:spcBef>
              <a:spcAft>
                <a:spcPts val="0"/>
              </a:spcAft>
              <a:buSzPts val="1300"/>
              <a:buChar char="●"/>
            </a:pPr>
            <a:r>
              <a:rPr lang="en"/>
              <a:t>Work with Jude and Sriram on robot control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Jude - Project Managing</a:t>
            </a:r>
            <a:endParaRPr/>
          </a:p>
        </p:txBody>
      </p:sp>
      <p:sp>
        <p:nvSpPr>
          <p:cNvPr id="124" name="Google Shape;124;p19"/>
          <p:cNvSpPr txBox="1"/>
          <p:nvPr>
            <p:ph idx="1" type="body"/>
          </p:nvPr>
        </p:nvSpPr>
        <p:spPr>
          <a:xfrm>
            <a:off x="729450" y="2059716"/>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Implemented robot arm movement calculations to achieve pick up actions to anywhere in robots range.</a:t>
            </a:r>
            <a:endParaRPr/>
          </a:p>
          <a:p>
            <a:pPr indent="-311150" lvl="0" marL="457200" rtl="0" algn="l">
              <a:spcBef>
                <a:spcPts val="0"/>
              </a:spcBef>
              <a:spcAft>
                <a:spcPts val="0"/>
              </a:spcAft>
              <a:buSzPts val="1300"/>
              <a:buChar char="●"/>
            </a:pPr>
            <a:r>
              <a:rPr lang="en"/>
              <a:t>Got meeting with electronics support at uni for help with cams</a:t>
            </a:r>
            <a:endParaRPr/>
          </a:p>
          <a:p>
            <a:pPr indent="-311150" lvl="0" marL="457200" rtl="0" algn="l">
              <a:spcBef>
                <a:spcPts val="0"/>
              </a:spcBef>
              <a:spcAft>
                <a:spcPts val="0"/>
              </a:spcAft>
              <a:buSzPts val="1300"/>
              <a:buChar char="●"/>
            </a:pPr>
            <a:r>
              <a:rPr lang="en"/>
              <a:t>Some progress with the pi (multi cameras now detected by pi and detection code now runs but error with the tflite model) as a group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671775" y="5286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a:t>
            </a:r>
            <a:endParaRPr/>
          </a:p>
        </p:txBody>
      </p:sp>
      <p:sp>
        <p:nvSpPr>
          <p:cNvPr id="130" name="Google Shape;130;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1" name="Google Shape;131;p20"/>
          <p:cNvPicPr preferRelativeResize="0"/>
          <p:nvPr/>
        </p:nvPicPr>
        <p:blipFill>
          <a:blip r:embed="rId3">
            <a:alphaModFix/>
          </a:blip>
          <a:stretch>
            <a:fillRect/>
          </a:stretch>
        </p:blipFill>
        <p:spPr>
          <a:xfrm>
            <a:off x="2630371" y="1318646"/>
            <a:ext cx="3176475" cy="3440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